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83" r:id="rId3"/>
    <p:sldId id="282" r:id="rId4"/>
    <p:sldId id="277" r:id="rId5"/>
    <p:sldId id="278" r:id="rId6"/>
    <p:sldId id="279" r:id="rId7"/>
    <p:sldId id="280" r:id="rId8"/>
    <p:sldId id="276" r:id="rId9"/>
    <p:sldId id="269" r:id="rId10"/>
    <p:sldId id="271" r:id="rId11"/>
    <p:sldId id="270" r:id="rId12"/>
    <p:sldId id="272" r:id="rId13"/>
    <p:sldId id="274" r:id="rId14"/>
    <p:sldId id="273" r:id="rId15"/>
    <p:sldId id="27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4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D7AAE-1F04-F1A7-E9DC-808DBDC053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E6F9C9-FA21-C8F7-567D-B211700C72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0C44E-78E5-0852-2A9F-3D89A1E75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CE51-433F-4469-A95F-4B92F93D7E44}" type="datetimeFigureOut">
              <a:rPr lang="en-CA" smtClean="0"/>
              <a:t>2/26/26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12F6D-AE59-9801-2DEE-3B82D4F50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472B9-C721-2F3E-69B5-51E28B857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FDE17-9FB2-4F82-ABB2-60701D72A6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2649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27017-DE9F-03DC-FB36-32B286CB7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67261-321E-619A-C1B0-5DC6B53E0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A9B61-5B50-E881-CB9D-0987D6590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CE51-433F-4469-A95F-4B92F93D7E44}" type="datetimeFigureOut">
              <a:rPr lang="en-CA" smtClean="0"/>
              <a:t>2/26/26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4A620-77DB-2D3B-3513-09EEA5669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EABDB-759A-1423-8174-A624DD6DE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FDE17-9FB2-4F82-ABB2-60701D72A6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42291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55329-0F22-24CB-250F-B8FD02B05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9CD491-449B-0A7F-9D63-8112D5B7B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46386-8383-209E-DCE8-B3FAC715F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CE51-433F-4469-A95F-4B92F93D7E44}" type="datetimeFigureOut">
              <a:rPr lang="en-CA" smtClean="0"/>
              <a:t>2/26/26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EB568-4A4F-BEEF-8981-DE1625067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48F5C-B932-8B1F-EF84-56F0E6EC9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FDE17-9FB2-4F82-ABB2-60701D72A6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4322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B78CC-B18B-E452-476D-8EF7C4BC8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2E084-3D4C-8F1A-0C1F-89BFE561B6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764A84-52FE-B9F6-78D0-E85DC7C0B4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017391-E803-DB97-4A68-CF118260F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CE51-433F-4469-A95F-4B92F93D7E44}" type="datetimeFigureOut">
              <a:rPr lang="en-CA" smtClean="0"/>
              <a:t>2/26/26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C727EB-7D65-16E3-B0AC-96DD4D720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2CDA31-BC9E-448C-C33B-C1D19915C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FDE17-9FB2-4F82-ABB2-60701D72A6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64587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F06FF-84C6-B4C4-97A1-73E1A90F4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E3715-F508-6A31-9644-8DA2F9A70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D19CB3-BB1C-EC3B-6A13-49F7B8FA50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D5FC2D-9EDB-EE8E-999D-4F4E08742B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E8BE00-DDA5-2BF8-9D53-B4947CB8AE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5FA5E2-978E-EF87-E19E-050258819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CE51-433F-4469-A95F-4B92F93D7E44}" type="datetimeFigureOut">
              <a:rPr lang="en-CA" smtClean="0"/>
              <a:t>2/26/26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E42BF4-F186-D231-0AFE-8B75AD502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8C8524-98CC-F34B-FAB6-B34A1F46E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FDE17-9FB2-4F82-ABB2-60701D72A6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50181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D15DB-E301-698A-E6D3-5FEE4A9EF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641AAC-7B56-70E3-1ECE-A7874200E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CE51-433F-4469-A95F-4B92F93D7E44}" type="datetimeFigureOut">
              <a:rPr lang="en-CA" smtClean="0"/>
              <a:t>2/26/26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CABC3E-88AE-6975-A6AB-094173AB1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BF8753-BBBE-762D-7589-2CAB3DE23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FDE17-9FB2-4F82-ABB2-60701D72A6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6324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51CC27-0D99-E55E-E3D1-E71CE9E2C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CE51-433F-4469-A95F-4B92F93D7E44}" type="datetimeFigureOut">
              <a:rPr lang="en-CA" smtClean="0"/>
              <a:t>2/26/26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A6A491-DBE5-53E7-B57B-12A3F9702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052AF-44A8-9706-9666-B206DEA71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FDE17-9FB2-4F82-ABB2-60701D72A6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6180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E4867-A136-B7F7-6093-C400C100B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1732B-E22D-3F5A-9009-F384F0248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23AE44-7BFB-F1A1-FB7B-4BA0F7147E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0136D7-E79F-0ADF-2A0D-02710DDFE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CE51-433F-4469-A95F-4B92F93D7E44}" type="datetimeFigureOut">
              <a:rPr lang="en-CA" smtClean="0"/>
              <a:t>2/26/26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FE08A5-3CDE-1666-AAFD-DD2EF4989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76C8AE-2185-C7A4-9523-474C37323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FDE17-9FB2-4F82-ABB2-60701D72A6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71598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E7A9E-862A-2F1C-2A24-09C1460AF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A5B3A7-02B0-2966-1E3C-72051EB581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37E04B-F75C-7480-B74B-C4BB7F0924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B1C78B-5853-9D37-1542-3A86F53AA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CE51-433F-4469-A95F-4B92F93D7E44}" type="datetimeFigureOut">
              <a:rPr lang="en-CA" smtClean="0"/>
              <a:t>2/26/26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96BDC4-DBF0-2D94-F013-E88423FBD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D2EB9A-C26B-E50F-2A4E-F9BD6F794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FDE17-9FB2-4F82-ABB2-60701D72A6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6467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EDEAF-D73A-95F0-3114-30BA76C3A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073289-6415-3A84-9EC9-FCEF5DD880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86B44-4EE3-1E4E-1635-0A4AE1996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CE51-433F-4469-A95F-4B92F93D7E44}" type="datetimeFigureOut">
              <a:rPr lang="en-CA" smtClean="0"/>
              <a:t>2/26/26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93C73-44A1-F545-F806-4F75B17FF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8B8A1-3EE6-D153-7796-D464EDB83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FDE17-9FB2-4F82-ABB2-60701D72A6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4470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3B6F4A-9D77-4D69-40FF-39C5AA758B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787B09-67D6-D2B7-4641-1CAD4D5A1D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9D316-A2BC-D14C-E949-F3DED7048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6CE51-433F-4469-A95F-4B92F93D7E44}" type="datetimeFigureOut">
              <a:rPr lang="en-CA" smtClean="0"/>
              <a:t>2/26/26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7FF2A-F63E-0EE4-DB05-EB218FA97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29B85-EC6D-DE5A-5090-D0D6A9E79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FDE17-9FB2-4F82-ABB2-60701D72A6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52828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630CDB-C53F-9CF4-2DA9-A0524A507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24527B-61F0-249F-A65F-F294C54EE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714C6-83DC-237A-7C1D-FFE832FE9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06CE51-433F-4469-A95F-4B92F93D7E44}" type="datetimeFigureOut">
              <a:rPr lang="en-CA" smtClean="0"/>
              <a:t>2/26/26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61811-2F85-1EE3-A368-387DD31B30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C8A8D-9635-CC77-3CCC-7A31CE8428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8FDE17-9FB2-4F82-ABB2-60701D72A67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05937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4BDFE-B8D9-79B3-377F-6EE7B9046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Data 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4ABED-0731-DC4F-43C0-98AFB9535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CA" dirty="0"/>
              <a:t>Citation Request:</a:t>
            </a:r>
          </a:p>
          <a:p>
            <a:r>
              <a:rPr lang="en-CA" dirty="0"/>
              <a:t>  This dataset is publicly available for research. The details are described in [Moro et al., 2014]. </a:t>
            </a:r>
          </a:p>
          <a:p>
            <a:r>
              <a:rPr lang="en-CA" dirty="0"/>
              <a:t>  Please include this citation if you plan to use this database:</a:t>
            </a:r>
          </a:p>
          <a:p>
            <a:endParaRPr lang="en-CA" dirty="0"/>
          </a:p>
          <a:p>
            <a:r>
              <a:rPr lang="en-CA" dirty="0"/>
              <a:t>  [Moro et al., 2014] S. Moro, P. Cortez and P. Rita. A Data-Driven Approach to Predict the Success of Bank Telemarketing. Decision Support Systems, In press, http://dx.doi.org/10.1016/j.dss.2014.03.001</a:t>
            </a:r>
          </a:p>
          <a:p>
            <a:endParaRPr lang="en-CA" dirty="0"/>
          </a:p>
          <a:p>
            <a:r>
              <a:rPr lang="en-CA" dirty="0"/>
              <a:t>  Available at: [pdf] http://dx.doi.org/10.1016/j.dss.2014.03.001</a:t>
            </a:r>
          </a:p>
          <a:p>
            <a:r>
              <a:rPr lang="en-CA" dirty="0"/>
              <a:t>                [bib] http://www3.dsi.uminho.pt/pcortez/bib/2014-dss.txt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23793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3DE64-9E30-69F4-CE85-4FBD5449F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Data Input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A5ADE5-3E7F-8327-966A-B5E8A5AAD0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91686" y="949570"/>
            <a:ext cx="6286524" cy="536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274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578B0-6E93-C330-80AC-E900C599C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8CEDD-52C1-B048-D6E2-ADF2D9B80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Rank all data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F5A990-102D-6DEB-ACFB-34AB5F0681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45026" y="1378225"/>
            <a:ext cx="7765773" cy="503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971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509BC-A307-81C8-04E7-45FDEAD53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sz="1400" dirty="0"/>
              <a:t>11 - duration: last contact duration, in seconds (numeric). Important note:  this attribute highly affects the output target (e.g., if duration=0 then y="no"). Yet, the duration is not known before a call is performed. Also, after the end of the call y is obviously known. Thus, this input should only be included for benchmark purposes and should be discarded if the intention is to have a realistic predictive model.</a:t>
            </a:r>
            <a:br>
              <a:rPr lang="en-CA" sz="1400" dirty="0"/>
            </a:br>
            <a:br>
              <a:rPr lang="en-CA" sz="1400" dirty="0"/>
            </a:br>
            <a:r>
              <a:rPr lang="en-CA" sz="1400" dirty="0"/>
              <a:t>Comments: last call duration ≤800 seconds is 54% (27/50) yes and appears to be increasing the longer the calls; all blue bars of longer calls thereafter are statistically low client count (e.g. 0/2, 0/1 and 0/1)</a:t>
            </a:r>
            <a:br>
              <a:rPr lang="en-CA" sz="1400" dirty="0"/>
            </a:br>
            <a:endParaRPr lang="en-CA" sz="1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C186BE-41C9-1CFF-821F-78791DD654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9970" y="2243069"/>
            <a:ext cx="877205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912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0C594-DB5C-4C4C-1CB8-D343B2121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F0A49-D37F-2D87-A966-7C1D6653B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1400" dirty="0"/>
              <a:t>12 - campaign: number of contacts performed during this campaign and for this client (numeric, includes last contact)</a:t>
            </a:r>
            <a:br>
              <a:rPr lang="en-CA" sz="1400" dirty="0"/>
            </a:br>
            <a:br>
              <a:rPr lang="en-CA" sz="1400" dirty="0"/>
            </a:br>
            <a:r>
              <a:rPr lang="en-CA" sz="1400" dirty="0"/>
              <a:t>Comments: call attempts 2-4 is at 11.4% yes and decreasing after with no “yes” after 12 attempts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72C7E8-1787-5327-7636-C7A24CB31C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75" b="8104"/>
          <a:stretch>
            <a:fillRect/>
          </a:stretch>
        </p:blipFill>
        <p:spPr>
          <a:xfrm>
            <a:off x="1709970" y="2050912"/>
            <a:ext cx="8331315" cy="411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704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1A19C-37E6-2A24-F01E-A3CD89BE1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1400" dirty="0"/>
              <a:t>17 - </a:t>
            </a:r>
            <a:r>
              <a:rPr lang="en-CA" sz="1400" dirty="0" err="1"/>
              <a:t>cons.price.idx</a:t>
            </a:r>
            <a:r>
              <a:rPr lang="en-CA" sz="1400" dirty="0"/>
              <a:t>: consumer price index - monthly indicator (numeric)</a:t>
            </a:r>
            <a:br>
              <a:rPr lang="en-CA" sz="1400" dirty="0"/>
            </a:br>
            <a:br>
              <a:rPr lang="en-CA" sz="1400" dirty="0"/>
            </a:br>
            <a:r>
              <a:rPr lang="en-CA" sz="1400" dirty="0"/>
              <a:t>Comments: some localized anomaly with very low “</a:t>
            </a:r>
            <a:r>
              <a:rPr lang="en-CA" sz="1400" dirty="0" err="1"/>
              <a:t>yes’</a:t>
            </a:r>
            <a:r>
              <a:rPr lang="en-CA" sz="1400" dirty="0"/>
              <a:t> percentage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6377CE-FF5A-B882-636E-4B2F13A5CA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9553" y="1825625"/>
            <a:ext cx="885289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62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E5440-8ABA-5C93-D7AA-B8374FD0B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1400" dirty="0"/>
              <a:t>18 - </a:t>
            </a:r>
            <a:r>
              <a:rPr lang="en-CA" sz="1400" dirty="0" err="1"/>
              <a:t>cons.conf.idx</a:t>
            </a:r>
            <a:r>
              <a:rPr lang="en-CA" sz="1400" dirty="0"/>
              <a:t>: consumer confidence index - monthly indicator (numeric) </a:t>
            </a:r>
            <a:br>
              <a:rPr lang="en-CA" sz="1400" dirty="0"/>
            </a:br>
            <a:br>
              <a:rPr lang="en-CA" sz="1400" dirty="0"/>
            </a:br>
            <a:r>
              <a:rPr lang="en-CA" sz="1400" dirty="0"/>
              <a:t>Comments: some localized anomaly with very low “</a:t>
            </a:r>
            <a:r>
              <a:rPr lang="en-CA" sz="1400" dirty="0" err="1"/>
              <a:t>yes’</a:t>
            </a:r>
            <a:r>
              <a:rPr lang="en-CA" sz="1400" dirty="0"/>
              <a:t> percentage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5FAF35-340B-009B-D4E4-086824F949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2392" y="1825625"/>
            <a:ext cx="878721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62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7F79B-68E0-9B2A-6618-2ACB7DC62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distribution by age and yes/no classification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E7D88B-0677-72FF-4C61-D232A6DFDF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9834" y="1825625"/>
            <a:ext cx="881233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763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CF76F-9462-A620-EDC9-6F4D21DB1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distribution by job and yes/no classification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B3F685-34D4-302E-D6DE-05D306360D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2306" y="1825625"/>
            <a:ext cx="884738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320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0C064-4FFC-2C9C-DF8F-6F939D218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distribution by education and yes/no classification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9F34DB-EC37-A28B-1B87-A745FDF7F5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02392" y="1825625"/>
            <a:ext cx="878721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829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5B1B2-2F6E-2FF6-1207-9D7EDDFC9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distribution by marital status and yes/no classification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C3861B-EC50-326E-ED0A-D1F98BAF6F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9897" y="1825625"/>
            <a:ext cx="881220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237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41EC9-CDBD-CA88-8429-CA9647F18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distribution by loan and yes/no classification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52FEEF-440E-98CD-236C-E67F883375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7580" y="1825625"/>
            <a:ext cx="879683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531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7985B-BEBF-EB2B-0296-164948CB6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distribution by month and yes/no classification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A45944-B2F8-DEBA-ACC0-466E7D863B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19882" y="1825625"/>
            <a:ext cx="8752235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ACB6B7-4A50-AE85-6FA4-E81F6BAD0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814" y="3784636"/>
            <a:ext cx="1148569" cy="4010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A23579-8AF4-6CFD-6004-78CAD3E09F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7077" y="3183761"/>
            <a:ext cx="1376142" cy="4659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4EDF73A-07EA-7EC9-E860-15EA6420F9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8613" y="3465100"/>
            <a:ext cx="1376142" cy="467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8883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C1503-400F-BA61-17D6-2F38A096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distribution by contact and yes/no classification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F8F720-4689-8ADE-70D8-84D3DF100B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2215" y="1825625"/>
            <a:ext cx="882757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531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2C78A-28D8-AE7D-865D-28087CA2A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38621"/>
            <a:ext cx="10515600" cy="1325563"/>
          </a:xfrm>
        </p:spPr>
        <p:txBody>
          <a:bodyPr/>
          <a:lstStyle/>
          <a:p>
            <a:r>
              <a:rPr lang="en-CA" dirty="0"/>
              <a:t>distribution by </a:t>
            </a:r>
            <a:r>
              <a:rPr lang="en-CA" dirty="0" err="1"/>
              <a:t>day_of_week</a:t>
            </a:r>
            <a:r>
              <a:rPr lang="en-CA" dirty="0"/>
              <a:t> and yes/no classification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C4A79A-149F-ECD6-95DD-B5DCE960F7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24269" y="1825625"/>
            <a:ext cx="9065387" cy="4489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936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983</TotalTime>
  <Words>456</Words>
  <Application>Microsoft Office PowerPoint</Application>
  <PresentationFormat>Widescreen</PresentationFormat>
  <Paragraphs>23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Data Source</vt:lpstr>
      <vt:lpstr>Data Input</vt:lpstr>
      <vt:lpstr>Rank all data</vt:lpstr>
      <vt:lpstr>11 - duration: last contact duration, in seconds (numeric). Important note:  this attribute highly affects the output target (e.g., if duration=0 then y="no"). Yet, the duration is not known before a call is performed. Also, after the end of the call y is obviously known. Thus, this input should only be included for benchmark purposes and should be discarded if the intention is to have a realistic predictive model.  Comments: last call duration ≤800 seconds is 54% (27/50) yes and appears to be increasing the longer the calls; all blue bars of longer calls thereafter are statistically low client count (e.g. 0/2, 0/1 and 0/1) </vt:lpstr>
      <vt:lpstr>12 - campaign: number of contacts performed during this campaign and for this client (numeric, includes last contact)  Comments: call attempts 2-4 is at 11.4% yes and decreasing after with no “yes” after 12 attempts</vt:lpstr>
      <vt:lpstr>17 - cons.price.idx: consumer price index - monthly indicator (numeric)  Comments: some localized anomaly with very low “yes’ percentage</vt:lpstr>
      <vt:lpstr>18 - cons.conf.idx: consumer confidence index - monthly indicator (numeric)   Comments: some localized anomaly with very low “yes’ percentage </vt:lpstr>
      <vt:lpstr>distribution by age and yes/no classification</vt:lpstr>
      <vt:lpstr>distribution by job and yes/no classification</vt:lpstr>
      <vt:lpstr>distribution by education and yes/no classification</vt:lpstr>
      <vt:lpstr>distribution by marital status and yes/no classification</vt:lpstr>
      <vt:lpstr>distribution by loan and yes/no classification</vt:lpstr>
      <vt:lpstr>distribution by month and yes/no classification</vt:lpstr>
      <vt:lpstr>distribution by contact and yes/no classification</vt:lpstr>
      <vt:lpstr>distribution by day_of_week and yes/no classification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Jesse P. Segura, P.Geo</dc:creator>
  <cp:lastModifiedBy>Jesse P. Segura, P.Geo</cp:lastModifiedBy>
  <cp:revision>23</cp:revision>
  <dcterms:created xsi:type="dcterms:W3CDTF">2026-02-26T00:29:11Z</dcterms:created>
  <dcterms:modified xsi:type="dcterms:W3CDTF">2026-02-26T16:54:38Z</dcterms:modified>
</cp:coreProperties>
</file>