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4" r:id="rId3"/>
    <p:sldId id="287" r:id="rId4"/>
    <p:sldId id="294" r:id="rId5"/>
    <p:sldId id="288" r:id="rId6"/>
    <p:sldId id="291" r:id="rId7"/>
    <p:sldId id="295" r:id="rId8"/>
    <p:sldId id="289" r:id="rId9"/>
    <p:sldId id="290" r:id="rId10"/>
    <p:sldId id="282" r:id="rId11"/>
    <p:sldId id="293" r:id="rId12"/>
    <p:sldId id="29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7AAE-1F04-F1A7-E9DC-808DBDC05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6F9C9-FA21-C8F7-567D-B211700C7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0C44E-78E5-0852-2A9F-3D89A1E75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12F6D-AE59-9801-2DEE-3B82D4F5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472B9-C721-2F3E-69B5-51E28B85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264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7017-DE9F-03DC-FB36-32B286CB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67261-321E-619A-C1B0-5DC6B53E0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A9B61-5B50-E881-CB9D-0987D659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A620-77DB-2D3B-3513-09EEA5669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EABDB-759A-1423-8174-A624DD6DE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229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5329-0F22-24CB-250F-B8FD02B0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CD491-449B-0A7F-9D63-8112D5B7B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46386-8383-209E-DCE8-B3FAC715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EB568-4A4F-BEEF-8981-DE162506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48F5C-B932-8B1F-EF84-56F0E6EC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4322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78CC-B18B-E452-476D-8EF7C4BC8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2E084-3D4C-8F1A-0C1F-89BFE561B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4A84-52FE-B9F6-78D0-E85DC7C0B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17391-E803-DB97-4A68-CF118260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727EB-7D65-16E3-B0AC-96DD4D72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CDA31-BC9E-448C-C33B-C1D19915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458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06FF-84C6-B4C4-97A1-73E1A90F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E3715-F508-6A31-9644-8DA2F9A70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19CB3-BB1C-EC3B-6A13-49F7B8FA5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5FC2D-9EDB-EE8E-999D-4F4E08742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E8BE00-DDA5-2BF8-9D53-B4947CB8A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5FA5E2-978E-EF87-E19E-05025881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42BF4-F186-D231-0AFE-8B75AD50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C8524-98CC-F34B-FAB6-B34A1F46E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018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15DB-E301-698A-E6D3-5FEE4A9E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41AAC-7B56-70E3-1ECE-A7874200E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ABC3E-88AE-6975-A6AB-094173AB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F8753-BBBE-762D-7589-2CAB3DE2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32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1CC27-0D99-E55E-E3D1-E71CE9E2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6A491-DBE5-53E7-B57B-12A3F970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052AF-44A8-9706-9666-B206DEA7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18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4867-A136-B7F7-6093-C400C100B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732B-E22D-3F5A-9009-F384F0248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3AE44-7BFB-F1A1-FB7B-4BA0F7147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136D7-E79F-0ADF-2A0D-02710DDF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E08A5-3CDE-1666-AAFD-DD2EF498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6C8AE-2185-C7A4-9523-474C3732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159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7A9E-862A-2F1C-2A24-09C1460A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5B3A7-02B0-2966-1E3C-72051EB58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7E04B-F75C-7480-B74B-C4BB7F092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1C78B-5853-9D37-1542-3A86F53A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6BDC4-DBF0-2D94-F013-E88423FBD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2EB9A-C26B-E50F-2A4E-F9BD6F79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46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DEAF-D73A-95F0-3114-30BA76C3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73289-6415-3A84-9EC9-FCEF5DD88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86B44-4EE3-1E4E-1635-0A4AE199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93C73-44A1-F545-F806-4F75B17F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B8A1-3EE6-D153-7796-D464EDB8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447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3B6F4A-9D77-4D69-40FF-39C5AA758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87B09-67D6-D2B7-4641-1CAD4D5A1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9D316-A2BC-D14C-E949-F3DED704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7FF2A-F63E-0EE4-DB05-EB218FA9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29B85-EC6D-DE5A-5090-D0D6A9E7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2828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30CDB-C53F-9CF4-2DA9-A0524A50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4527B-61F0-249F-A65F-F294C54EE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714C6-83DC-237A-7C1D-FFE832FE9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6CE51-433F-4469-A95F-4B92F93D7E44}" type="datetimeFigureOut">
              <a:rPr lang="en-CA" smtClean="0"/>
              <a:t>2/27/26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61811-2F85-1EE3-A368-387DD31B3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C8A8D-9635-CC77-3CCC-7A31CE842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593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EC6D-76CE-2440-849A-80B3E53D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Input (41,188, 20 features, 2 target values)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7D8D7-C4F2-E4FA-3603-CC598B0CA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9353" y="1825625"/>
            <a:ext cx="93132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77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3B13-7493-2FD5-BCD9-3EFA59DF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000" dirty="0"/>
              <a:t>distribution by education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02EDF7-B95A-66EE-0646-9FA5D3D68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8376" y="1487575"/>
            <a:ext cx="9350527" cy="51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5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D4E3-4A8E-868D-1E27-C2074E637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000" dirty="0"/>
              <a:t>distribution by job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7E31B7-6FCE-9916-E6A7-D3ACB58C4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0476" y="1825625"/>
            <a:ext cx="79110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B2AF-2CFB-CDF6-2633-41ED2903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000" dirty="0"/>
              <a:t>distribution by age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114948-3BD1-BC4A-F317-3F264F6C5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0568" y="1874786"/>
            <a:ext cx="79230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74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B9C9D-3170-AC0C-DD83-EFC00918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2099-3438-D138-2F27-BE6F4211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000" dirty="0"/>
              <a:t>distribution by marital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B0748E-5969-DA04-4B8D-4C32B2BF6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0476" y="1825625"/>
            <a:ext cx="79110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43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CEB8-08DB-A2E0-A7A1-95FB6627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000" dirty="0"/>
              <a:t>distribution by </a:t>
            </a:r>
            <a:r>
              <a:rPr lang="en-CA" sz="3000"/>
              <a:t>loan status </a:t>
            </a:r>
            <a:r>
              <a:rPr lang="en-CA" sz="3000" dirty="0"/>
              <a:t>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F78FBA-D450-F8EF-7292-94D41D4A8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5214" y="1825625"/>
            <a:ext cx="79615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4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34B7-099C-B6D1-FBE1-43448203E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5" y="365125"/>
            <a:ext cx="11464413" cy="1325563"/>
          </a:xfrm>
        </p:spPr>
        <p:txBody>
          <a:bodyPr>
            <a:noAutofit/>
          </a:bodyPr>
          <a:lstStyle/>
          <a:p>
            <a:r>
              <a:rPr lang="en-CA" sz="2500" dirty="0"/>
              <a:t>distribution by </a:t>
            </a:r>
            <a:r>
              <a:rPr lang="en-CA" sz="2500" dirty="0" err="1"/>
              <a:t>pdays</a:t>
            </a:r>
            <a:r>
              <a:rPr lang="en-CA" sz="2500" dirty="0"/>
              <a:t> and yes/no classification</a:t>
            </a:r>
            <a:br>
              <a:rPr lang="en-CA" sz="2500" dirty="0"/>
            </a:br>
            <a:br>
              <a:rPr lang="en-CA" sz="2500" dirty="0"/>
            </a:br>
            <a:r>
              <a:rPr lang="en-CA" sz="2500" dirty="0"/>
              <a:t> 13 - </a:t>
            </a:r>
            <a:r>
              <a:rPr lang="en-CA" sz="2500" dirty="0" err="1"/>
              <a:t>pdays</a:t>
            </a:r>
            <a:r>
              <a:rPr lang="en-CA" sz="2500" dirty="0"/>
              <a:t>: number of days that passed by after the client was last contacted from a previous campaign </a:t>
            </a:r>
            <a:r>
              <a:rPr lang="en-CA" sz="2500" dirty="0">
                <a:highlight>
                  <a:srgbClr val="FFFF00"/>
                </a:highlight>
              </a:rPr>
              <a:t>(numeric; 999 means client was not previously contacted)</a:t>
            </a:r>
            <a:br>
              <a:rPr lang="en-CA" sz="2500" dirty="0">
                <a:highlight>
                  <a:srgbClr val="FFFF00"/>
                </a:highlight>
              </a:rPr>
            </a:br>
            <a:endParaRPr lang="en-CA" sz="2500" dirty="0">
              <a:highlight>
                <a:srgbClr val="FFFF0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482235-03CE-A3F3-1723-AF8A14133B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1665" y="2141537"/>
            <a:ext cx="794844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C2E2F4-521F-3DD3-11F0-0F1C0D1BFD56}"/>
              </a:ext>
            </a:extLst>
          </p:cNvPr>
          <p:cNvSpPr txBox="1"/>
          <p:nvPr/>
        </p:nvSpPr>
        <p:spPr>
          <a:xfrm>
            <a:off x="621891" y="2654710"/>
            <a:ext cx="2892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 significant trend on the days count after the last contact</a:t>
            </a:r>
          </a:p>
        </p:txBody>
      </p:sp>
    </p:spTree>
    <p:extLst>
      <p:ext uri="{BB962C8B-B14F-4D97-AF65-F5344CB8AC3E}">
        <p14:creationId xmlns:p14="http://schemas.microsoft.com/office/powerpoint/2010/main" val="2015745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80DE4-5255-A513-1541-B8ABFD44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B4BC-4C24-FB34-28FA-0FF7BCF9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8" y="216375"/>
            <a:ext cx="10515600" cy="795081"/>
          </a:xfrm>
        </p:spPr>
        <p:txBody>
          <a:bodyPr>
            <a:normAutofit/>
          </a:bodyPr>
          <a:lstStyle/>
          <a:p>
            <a:r>
              <a:rPr lang="en-CA" sz="3000" dirty="0"/>
              <a:t>distribution by month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63AC7-71F1-5956-BC76-1A73E061E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2753" y="1786296"/>
            <a:ext cx="7911047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F36932-C81E-E61E-7748-6F1992A1B92D}"/>
              </a:ext>
            </a:extLst>
          </p:cNvPr>
          <p:cNvSpPr txBox="1"/>
          <p:nvPr/>
        </p:nvSpPr>
        <p:spPr>
          <a:xfrm>
            <a:off x="352128" y="2005780"/>
            <a:ext cx="28925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Not so much change in the yes count, significant low count in December possibly due to lower work days and people are in vacation mode?</a:t>
            </a:r>
          </a:p>
          <a:p>
            <a:endParaRPr lang="en-CA" dirty="0"/>
          </a:p>
          <a:p>
            <a:r>
              <a:rPr lang="en-CA" dirty="0"/>
              <a:t>May has significant No count</a:t>
            </a:r>
          </a:p>
        </p:txBody>
      </p:sp>
    </p:spTree>
    <p:extLst>
      <p:ext uri="{BB962C8B-B14F-4D97-AF65-F5344CB8AC3E}">
        <p14:creationId xmlns:p14="http://schemas.microsoft.com/office/powerpoint/2010/main" val="2152949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374E-FD8A-F644-2E44-509BB9A9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000" dirty="0"/>
              <a:t>distribution by days of the week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618DEB-D767-E75A-E081-47D4C8109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8992" y="1690688"/>
            <a:ext cx="7900002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C255BD-2734-7A95-389C-FA0156D2EBF7}"/>
              </a:ext>
            </a:extLst>
          </p:cNvPr>
          <p:cNvSpPr txBox="1"/>
          <p:nvPr/>
        </p:nvSpPr>
        <p:spPr>
          <a:xfrm>
            <a:off x="352128" y="2005780"/>
            <a:ext cx="2892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Appears to have no significant impact on the outcome, yes range is similar</a:t>
            </a:r>
          </a:p>
        </p:txBody>
      </p:sp>
    </p:spTree>
    <p:extLst>
      <p:ext uri="{BB962C8B-B14F-4D97-AF65-F5344CB8AC3E}">
        <p14:creationId xmlns:p14="http://schemas.microsoft.com/office/powerpoint/2010/main" val="4134089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578B0-6E93-C330-80AC-E900C599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EDD-52C1-B048-D6E2-ADF2D9B8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188144"/>
            <a:ext cx="10515600" cy="932733"/>
          </a:xfrm>
        </p:spPr>
        <p:txBody>
          <a:bodyPr/>
          <a:lstStyle/>
          <a:p>
            <a:r>
              <a:rPr lang="en-CA" dirty="0"/>
              <a:t>Rank all features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F5A990-102D-6DEB-ACFB-34AB5F068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4012" y="1366684"/>
            <a:ext cx="6880123" cy="50824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24EE81-6C27-D2F8-2891-6EFBCFE5F00E}"/>
              </a:ext>
            </a:extLst>
          </p:cNvPr>
          <p:cNvSpPr txBox="1"/>
          <p:nvPr/>
        </p:nvSpPr>
        <p:spPr>
          <a:xfrm>
            <a:off x="302966" y="1573160"/>
            <a:ext cx="289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Rank using all features</a:t>
            </a:r>
          </a:p>
        </p:txBody>
      </p:sp>
    </p:spTree>
    <p:extLst>
      <p:ext uri="{BB962C8B-B14F-4D97-AF65-F5344CB8AC3E}">
        <p14:creationId xmlns:p14="http://schemas.microsoft.com/office/powerpoint/2010/main" val="1950971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04CB2-30F3-2539-4DF2-31D735B3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D6AF-EC31-1C5B-CE63-ACF2AEF6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188144"/>
            <a:ext cx="10515600" cy="932733"/>
          </a:xfrm>
        </p:spPr>
        <p:txBody>
          <a:bodyPr/>
          <a:lstStyle/>
          <a:p>
            <a:r>
              <a:rPr lang="en-CA" dirty="0"/>
              <a:t>Rank all 20 features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68736B-8788-89EF-3C85-ECF1856BF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4012" y="1366684"/>
            <a:ext cx="6880123" cy="50824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1C5166-CA4E-0A13-B80C-B43B13FB55A6}"/>
              </a:ext>
            </a:extLst>
          </p:cNvPr>
          <p:cNvSpPr txBox="1"/>
          <p:nvPr/>
        </p:nvSpPr>
        <p:spPr>
          <a:xfrm>
            <a:off x="666760" y="1366684"/>
            <a:ext cx="289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Rank using all features</a:t>
            </a:r>
          </a:p>
        </p:txBody>
      </p:sp>
    </p:spTree>
    <p:extLst>
      <p:ext uri="{BB962C8B-B14F-4D97-AF65-F5344CB8AC3E}">
        <p14:creationId xmlns:p14="http://schemas.microsoft.com/office/powerpoint/2010/main" val="30080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DDF0-F475-3683-EBCE-554E4D94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Rank using reduced (11)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51E3E-4EB6-06AD-12A6-11D949EFDF81}"/>
              </a:ext>
            </a:extLst>
          </p:cNvPr>
          <p:cNvSpPr txBox="1"/>
          <p:nvPr/>
        </p:nvSpPr>
        <p:spPr>
          <a:xfrm>
            <a:off x="593289" y="1834958"/>
            <a:ext cx="2892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Summary of simple meanings from copilot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39B5AF-D4C5-6345-CD6B-0995BA7AD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7" y="3651892"/>
            <a:ext cx="5295481" cy="2719951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005F14B-15DB-37C8-0DF0-E3E4F18E4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09115" y="1467060"/>
            <a:ext cx="6638108" cy="362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13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3624</TotalTime>
  <Words>200</Words>
  <Application>Microsoft Office PowerPoint</Application>
  <PresentationFormat>Widescreen</PresentationFormat>
  <Paragraphs>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Data Input (41,188, 20 features, 2 target values)</vt:lpstr>
      <vt:lpstr>distribution by education and yes/no classification</vt:lpstr>
      <vt:lpstr>distribution by job and yes/no classification</vt:lpstr>
      <vt:lpstr>distribution by age and yes/no classification</vt:lpstr>
      <vt:lpstr>distribution by marital and yes/no classification</vt:lpstr>
      <vt:lpstr>distribution by loan status and yes/no classification</vt:lpstr>
      <vt:lpstr>distribution by pdays and yes/no classification   13 - pdays: number of days that passed by after the client was last contacted from a previous campaign (numeric; 999 means client was not previously contacted) </vt:lpstr>
      <vt:lpstr>distribution by month and yes/no classification</vt:lpstr>
      <vt:lpstr>distribution by days of the week and yes/no classification</vt:lpstr>
      <vt:lpstr>Rank all features</vt:lpstr>
      <vt:lpstr>Rank all 20 features</vt:lpstr>
      <vt:lpstr>Rank using reduced (11)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P. Segura, P.Geo</dc:creator>
  <cp:lastModifiedBy>Jesse P. Segura, P.Geo</cp:lastModifiedBy>
  <cp:revision>34</cp:revision>
  <dcterms:created xsi:type="dcterms:W3CDTF">2026-02-26T00:29:11Z</dcterms:created>
  <dcterms:modified xsi:type="dcterms:W3CDTF">2026-03-01T18:06:52Z</dcterms:modified>
</cp:coreProperties>
</file>